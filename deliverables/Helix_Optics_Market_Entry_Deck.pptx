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374B60"/>
                </a:solidFill>
                <a:latin typeface="Arial"/>
              </a:rPr>
              <a:t>HELIX OPTICS · FIRST EUROPEAN MARKET · BOARD RECOMMENDATION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D2939"/>
                </a:solidFill>
                <a:latin typeface="Arial"/>
              </a:rPr>
              <a:t>Enter the Netherlands first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41732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8229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1D2939"/>
                </a:solidFill>
                <a:latin typeface="Arial"/>
              </a:rPr>
              <a:t>Break-even Y3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company EBITDA positive in year 3 — second year of reimbursed sales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56032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8229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374B60"/>
                </a:solidFill>
                <a:latin typeface="Arial"/>
              </a:rPr>
              <a:t>€1.30M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cash trough — the runway is never exhausted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370332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8229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1D2939"/>
                </a:solidFill>
                <a:latin typeface="Arial"/>
              </a:rPr>
              <a:t>159,910 / yr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addressable FIT-positives — 92% of Germany's volume, none of its barriers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46320"/>
            <a:ext cx="2606040" cy="1024128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18872" tIns="82296"/>
          <a:lstStyle/>
          <a:p>
            <a:pPr algn="ctr">
              <a:spcAft>
                <a:spcPts val="100"/>
              </a:spcAft>
            </a:pPr>
            <a:r>
              <a:rPr sz="2100" b="1">
                <a:solidFill>
                  <a:srgbClr val="1D2939"/>
                </a:solidFill>
                <a:latin typeface="Arial"/>
              </a:rPr>
              <a:t>€7,750 saved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per 100 patients triaged, at €650/colonoscopy — the payer wants this</a:t>
            </a:r>
          </a:p>
        </p:txBody>
      </p:sp>
      <p:pic>
        <p:nvPicPr>
          <p:cNvPr id="8" name="Picture 7" descr="cash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417320"/>
            <a:ext cx="8001000" cy="441080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566160" y="5989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50" b="0">
                <a:solidFill>
                  <a:srgbClr val="1D2939"/>
                </a:solidFill>
                <a:latin typeface="Arial"/>
              </a:rPr>
              <a:t>The Netherlands is the only market of the four that survives on the €4.0M runway — 12 months to reimbursement, one national procurement route, no incumbent.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rial"/>
              </a:rPr>
              <a:t>All figures computed by the data pipeline from the case pack; model replicated live in the Excel. Ramp anchored to the pack's benchmark (~20% of eligible volume within 3 years of reimbursement).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374B60"/>
                </a:solidFill>
                <a:latin typeface="Arial"/>
              </a:rPr>
              <a:t>WHY NOT THE BIGGEST MARKET FIRST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D2939"/>
                </a:solidFill>
                <a:latin typeface="Arial"/>
              </a:rPr>
              <a:t>Germany is the prize — and the certain death of the runway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577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24 months to reimbursed revenue.</a:t>
            </a:r>
            <a:r>
              <a:rPr sz="1300">
                <a:solidFill>
                  <a:srgbClr val="667085"/>
                </a:solidFill>
                <a:latin typeface="Arial"/>
              </a:rPr>
              <a:t> The pathway is procedural — and the national report is explicit that clinical investigators, lab partnerships and prior studies do NOT shorten it.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Pre-reimbursement revenue ≈ €0.</a:t>
            </a:r>
            <a:r>
              <a:rPr sz="1300">
                <a:solidFill>
                  <a:srgbClr val="667085"/>
                </a:solidFill>
                <a:latin typeface="Arial"/>
              </a:rPr>
              <a:t> Selective contracts and self-pay have 'historically covered negligible volume' — planning assumption: immaterial.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The runway dies first.</a:t>
            </a:r>
            <a:r>
              <a:rPr sz="1300">
                <a:solidFill>
                  <a:srgbClr val="667085"/>
                </a:solidFill>
                <a:latin typeface="Arial"/>
              </a:rPr>
              <a:t> Burn reaches ~€2.85M in year 1; cash bottoms at -1.4M — insolvent before the first reimbursed euro.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An incumbent owns the channel.</a:t>
            </a:r>
            <a:r>
              <a:rPr sz="1300">
                <a:solidFill>
                  <a:srgbClr val="667085"/>
                </a:solidFill>
                <a:latin typeface="Arial"/>
              </a:rPr>
              <a:t> OncoStream: ~3 years reimbursed, 35–40% of addressable volume, framework agreements with the largest endoscopy networks.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Its 300k tests/yr claim is impossible.</a:t>
            </a:r>
            <a:r>
              <a:rPr sz="1300">
                <a:solidFill>
                  <a:srgbClr val="667085"/>
                </a:solidFill>
                <a:latin typeface="Arial"/>
              </a:rPr>
              <a:t> Germany's entire organised addressable volume is 174,240/yr — the company-reported figure is 1.7× the whole market. Pipeline check CHK-02 rejects it; the independent 35–40% share (~61–70k tests) is used instead.</a:t>
            </a:r>
          </a:p>
        </p:txBody>
      </p:sp>
      <p:pic>
        <p:nvPicPr>
          <p:cNvPr id="5" name="Picture 4" descr="troug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600200"/>
            <a:ext cx="5394960" cy="36546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92240" y="562356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667085"/>
                </a:solidFill>
                <a:latin typeface="Arial"/>
              </a:rPr>
              <a:t>Right market later, unaffordable market now: file the German reimbursement application early (the clock is procedural), enter when new capital or NL cash flow can fund the two-year wait.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rial"/>
              </a:rPr>
              <a:t>Sources: Germany national report; Meridian competitor brief (company-reported figures cross-checked against primary screening statistics — see pipeline validation).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374B60"/>
                </a:solidFill>
                <a:latin typeface="Arial"/>
              </a:rPr>
              <a:t>THE CASE FOR THE RECOMMENDATION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D2939"/>
                </a:solidFill>
                <a:latin typeface="Arial"/>
              </a:rPr>
              <a:t>The Netherlands: fastest to revenue, and the payer is motivated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54864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Volume without the barriers.</a:t>
            </a:r>
            <a:r>
              <a:rPr sz="1300">
                <a:solidFill>
                  <a:srgbClr val="667085"/>
                </a:solidFill>
                <a:latin typeface="Arial"/>
              </a:rPr>
              <a:t> 71% participation × 9.1% positivity → 159,910 FIT-positives/yr from a country of 4.95M eligible — 92% of Germany's volume.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12 months to reimbursement.</a:t>
            </a:r>
            <a:r>
              <a:rPr sz="1300">
                <a:solidFill>
                  <a:srgbClr val="667085"/>
                </a:solidFill>
                <a:latin typeface="Arial"/>
              </a:rPr>
              <a:t> Centralised programme, one national procurement decision — no region-by-region grind.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Open field.</a:t>
            </a:r>
            <a:r>
              <a:rPr sz="1300">
                <a:solidFill>
                  <a:srgbClr val="667085"/>
                </a:solidFill>
                <a:latin typeface="Arial"/>
              </a:rPr>
              <a:t> No competitor active; second-highest price of the four (€215).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Capacity pressure is policy.</a:t>
            </a:r>
            <a:r>
              <a:rPr sz="1300">
                <a:solidFill>
                  <a:srgbClr val="667085"/>
                </a:solidFill>
                <a:latin typeface="Arial"/>
              </a:rPr>
              <a:t> Reducing avoidable colonoscopies is an explicit programme priority — register data shows referrals at ~103% of national endoscopy capacity.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FF4200"/>
                </a:solidFill>
                <a:latin typeface="Arial"/>
              </a:rPr>
              <a:t>▪ </a:t>
            </a:r>
            <a:r>
              <a:rPr b="1" sz="1300">
                <a:solidFill>
                  <a:srgbClr val="1D2939"/>
                </a:solidFill>
                <a:latin typeface="Arial"/>
              </a:rPr>
              <a:t>The economics clear.</a:t>
            </a:r>
            <a:r>
              <a:rPr sz="1300">
                <a:solidFill>
                  <a:srgbClr val="667085"/>
                </a:solidFill>
                <a:latin typeface="Arial"/>
              </a:rPr>
              <a:t> €215 price vs €51 COGS (Y3) → 76% unit margin; company EBITDA positive Y3; 5-year end cash €9.6M.</a:t>
            </a:r>
          </a:p>
        </p:txBody>
      </p:sp>
      <p:pic>
        <p:nvPicPr>
          <p:cNvPr id="5" name="Picture 4" descr="nl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486400" cy="360045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0" y="5577840"/>
            <a:ext cx="5303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150" b="0">
                <a:solidFill>
                  <a:srgbClr val="667085"/>
                </a:solidFill>
                <a:latin typeface="Arial"/>
              </a:rPr>
              <a:t>What must be true: reimbursement lands ≈12 months; ramp reaches ~13% of addressable by the second reimbursed year; price holds near €215.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rial"/>
              </a:rPr>
              <a:t>Utilisation computed from the deduplicated facility registers (3,236 raw records → 228 real units).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374B60"/>
                </a:solidFill>
                <a:latin typeface="Arial"/>
              </a:rPr>
              <a:t>BREAK-EVEN AND THE RANGE AROUND IT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D2939"/>
                </a:solidFill>
                <a:latin typeface="Arial"/>
              </a:rPr>
              <a:t>Where the case bends, and where it breaks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417320"/>
            <a:ext cx="51206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700" b="1">
                <a:solidFill>
                  <a:srgbClr val="1D2939"/>
                </a:solidFill>
                <a:latin typeface="Arial"/>
              </a:rPr>
              <a:t>Break-even: Year 3</a:t>
            </a:r>
          </a:p>
          <a:p>
            <a:pPr>
              <a:spcAft>
                <a:spcPts val="1200"/>
              </a:spcAft>
            </a:pPr>
            <a:r>
              <a:rPr sz="1250" b="0">
                <a:solidFill>
                  <a:srgbClr val="667085"/>
                </a:solidFill>
                <a:latin typeface="Arial"/>
              </a:rPr>
              <a:t>On the base case — reimbursement at month 12, ramp to 20% of addressable by year 3 (the pack's own benchmark), price €215.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Ramp is the sensitive input.</a:t>
            </a:r>
            <a:r>
              <a:rPr sz="1250">
                <a:solidFill>
                  <a:srgbClr val="667085"/>
                </a:solidFill>
                <a:latin typeface="Arial"/>
              </a:rPr>
              <a:t> At half the benchmark ramp the trough falls to ≈€0.2M — survival, with nothing spare.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Delay is the killer when combined.</a:t>
            </a:r>
            <a:r>
              <a:rPr sz="1250">
                <a:solidFill>
                  <a:srgbClr val="667085"/>
                </a:solidFill>
                <a:latin typeface="Arial"/>
              </a:rPr>
              <a:t> Half-ramp AND a 24-month delay → trough −€2.1M: insolvent. Either alone is survivable; both together are not.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Price is the cushion.</a:t>
            </a:r>
            <a:r>
              <a:rPr sz="1250">
                <a:solidFill>
                  <a:srgbClr val="667085"/>
                </a:solidFill>
                <a:latin typeface="Arial"/>
              </a:rPr>
              <a:t> Every €10 of price ≈ €0.2–0.3M of annual EBITDA at scale — procurement discount headroom exists.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Kill condition, stated up front.</a:t>
            </a:r>
            <a:r>
              <a:rPr sz="1250">
                <a:solidFill>
                  <a:srgbClr val="667085"/>
                </a:solidFill>
                <a:latin typeface="Arial"/>
              </a:rPr>
              <a:t> If reimbursement hasn't landed by month 18, cut in-market spend and bridge — do not ride the base plan into the trough.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35040" y="1737360"/>
          <a:ext cx="557784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4460"/>
                <a:gridCol w="1394460"/>
                <a:gridCol w="1394460"/>
                <a:gridCol w="1394460"/>
              </a:tblGrid>
              <a:tr h="45720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cash trough · ramp ↓ / delay →</a:t>
                      </a:r>
                    </a:p>
                  </a:txBody>
                  <a:tcPr>
                    <a:solidFill>
                      <a:srgbClr val="1D29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12 months</a:t>
                      </a:r>
                    </a:p>
                  </a:txBody>
                  <a:tcPr>
                    <a:solidFill>
                      <a:srgbClr val="1D29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18 months</a:t>
                      </a:r>
                    </a:p>
                  </a:txBody>
                  <a:tcPr>
                    <a:solidFill>
                      <a:srgbClr val="1D293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</a:rPr>
                        <a:t>24 months</a:t>
                      </a:r>
                    </a:p>
                  </a:txBody>
                  <a:tcPr>
                    <a:solidFill>
                      <a:srgbClr val="1D293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ramp ×50%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-0.0M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-2.1M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-2.1M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ramp ×75%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939"/>
                          </a:solidFill>
                          <a:latin typeface="Arial"/>
                        </a:rPr>
                        <a:t>+0.8M</a:t>
                      </a:r>
                    </a:p>
                  </a:txBody>
                  <a:tcPr>
                    <a:solidFill>
                      <a:srgbClr val="F6EA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-1.3M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-1.3M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ramp ×100%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939"/>
                          </a:solidFill>
                          <a:latin typeface="Arial"/>
                        </a:rPr>
                        <a:t>+1.3M</a:t>
                      </a:r>
                    </a:p>
                  </a:txBody>
                  <a:tcPr>
                    <a:solidFill>
                      <a:srgbClr val="E6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-0.8M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-0.8M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50">
                          <a:latin typeface="Arial"/>
                        </a:rPr>
                        <a:t>ramp ×125%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1D2939"/>
                          </a:solidFill>
                          <a:latin typeface="Arial"/>
                        </a:rPr>
                        <a:t>+1.6M</a:t>
                      </a:r>
                    </a:p>
                  </a:txBody>
                  <a:tcPr>
                    <a:solidFill>
                      <a:srgbClr val="E6EE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-0.5M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-0.5M</a:t>
                      </a:r>
                    </a:p>
                  </a:txBody>
                  <a:tcPr>
                    <a:solidFill>
                      <a:srgbClr val="C12D00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35040" y="4251960"/>
            <a:ext cx="55778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100" b="0">
                <a:solidFill>
                  <a:srgbClr val="667085"/>
                </a:solidFill>
                <a:latin typeface="Arial"/>
              </a:rPr>
              <a:t>Green: comfortable. Amber: survives, thin. Red: insolvent.</a:t>
            </a:r>
          </a:p>
          <a:p>
            <a:pPr>
              <a:spcAft>
                <a:spcPts val="600"/>
              </a:spcAft>
            </a:pPr>
            <a:r>
              <a:rPr sz="1100" b="0">
                <a:solidFill>
                  <a:srgbClr val="667085"/>
                </a:solidFill>
                <a:latin typeface="Arial"/>
              </a:rPr>
              <a:t>Same grid lives as formulas in the Excel ('3 Sensitivity') — change any assumption in the live session and it recalculates.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rial"/>
              </a:rPr>
              <a:t>Break-even moves Y3 → Y4 at ×75% ramp; beyond Y5 only in the red scenarios.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FF42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92608"/>
            <a:ext cx="111858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1">
                <a:solidFill>
                  <a:srgbClr val="374B60"/>
                </a:solidFill>
                <a:latin typeface="Arial"/>
              </a:rPr>
              <a:t>QUESTIONS 3 — THE EXPANSION PLAN</a:t>
            </a:r>
          </a:p>
          <a:p>
            <a:pPr>
              <a:spcAft>
                <a:spcPts val="0"/>
              </a:spcAft>
            </a:pPr>
            <a:r>
              <a:rPr sz="2500" b="1">
                <a:solidFill>
                  <a:srgbClr val="1D2939"/>
                </a:solidFill>
                <a:latin typeface="Arial"/>
              </a:rPr>
              <a:t>After the Netherlands: sequence, triggers, and what we refuse to do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5544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FF4200"/>
                </a:solidFill>
                <a:latin typeface="Arial"/>
              </a:rPr>
              <a:t>NOW → Y1</a:t>
            </a:r>
          </a:p>
          <a:p>
            <a:pPr>
              <a:spcAft>
                <a:spcPts val="300"/>
              </a:spcAft>
            </a:pPr>
            <a:r>
              <a:rPr sz="1550" b="1">
                <a:solidFill>
                  <a:srgbClr val="1D2939"/>
                </a:solidFill>
                <a:latin typeface="Arial"/>
              </a:rPr>
              <a:t>Netherlands entry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€200k entry · reimbursement application immediately · first revenue ~month 13</a:t>
            </a:r>
          </a:p>
        </p:txBody>
      </p:sp>
      <p:sp>
        <p:nvSpPr>
          <p:cNvPr id="5" name="Rectangle 4"/>
          <p:cNvSpPr/>
          <p:nvPr/>
        </p:nvSpPr>
        <p:spPr>
          <a:xfrm>
            <a:off x="3355848" y="15544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1D2939"/>
                </a:solidFill>
                <a:latin typeface="Arial"/>
              </a:rPr>
              <a:t>Y1</a:t>
            </a:r>
          </a:p>
          <a:p>
            <a:pPr>
              <a:spcAft>
                <a:spcPts val="300"/>
              </a:spcAft>
            </a:pPr>
            <a:r>
              <a:rPr sz="1550" b="1">
                <a:solidFill>
                  <a:srgbClr val="1D2939"/>
                </a:solidFill>
                <a:latin typeface="Arial"/>
              </a:rPr>
              <a:t>File Germany's clock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the 24-month pathway is procedural — start it while NL scales; commercial spend stays €0</a:t>
            </a:r>
          </a:p>
        </p:txBody>
      </p:sp>
      <p:sp>
        <p:nvSpPr>
          <p:cNvPr id="6" name="Rectangle 5"/>
          <p:cNvSpPr/>
          <p:nvPr/>
        </p:nvSpPr>
        <p:spPr>
          <a:xfrm>
            <a:off x="6208776" y="15544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374B60"/>
                </a:solidFill>
                <a:latin typeface="Arial"/>
              </a:rPr>
              <a:t>Y2</a:t>
            </a:r>
          </a:p>
          <a:p>
            <a:pPr>
              <a:spcAft>
                <a:spcPts val="300"/>
              </a:spcAft>
            </a:pPr>
            <a:r>
              <a:rPr sz="1550" b="1">
                <a:solidFill>
                  <a:srgbClr val="1D2939"/>
                </a:solidFill>
                <a:latin typeface="Arial"/>
              </a:rPr>
              <a:t>Portugal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€120k entry, 12-month route, home turf; contribution-positive add-on (~€0.6M/yr at benchmark)</a:t>
            </a:r>
          </a:p>
        </p:txBody>
      </p:sp>
      <p:sp>
        <p:nvSpPr>
          <p:cNvPr id="7" name="Rectangle 6"/>
          <p:cNvSpPr/>
          <p:nvPr/>
        </p:nvSpPr>
        <p:spPr>
          <a:xfrm>
            <a:off x="9061704" y="1554480"/>
            <a:ext cx="2697480" cy="1828800"/>
          </a:xfrm>
          <a:prstGeom prst="rect">
            <a:avLst/>
          </a:prstGeom>
          <a:solidFill>
            <a:srgbClr val="FFFFFF"/>
          </a:solidFill>
          <a:ln w="9525">
            <a:solidFill>
              <a:srgbClr val="E6E1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8016" tIns="91440"/>
          <a:lstStyle/>
          <a:p>
            <a:pPr algn="ctr">
              <a:spcAft>
                <a:spcPts val="200"/>
              </a:spcAft>
            </a:pPr>
            <a:r>
              <a:rPr sz="1050" b="1">
                <a:solidFill>
                  <a:srgbClr val="C12D00"/>
                </a:solidFill>
                <a:latin typeface="Arial"/>
              </a:rPr>
              <a:t>Y3+</a:t>
            </a:r>
          </a:p>
          <a:p>
            <a:pPr>
              <a:spcAft>
                <a:spcPts val="300"/>
              </a:spcAft>
            </a:pPr>
            <a:r>
              <a:rPr sz="1550" b="1">
                <a:solidFill>
                  <a:srgbClr val="1D2939"/>
                </a:solidFill>
                <a:latin typeface="Arial"/>
              </a:rPr>
              <a:t>Germany, funded</a:t>
            </a:r>
          </a:p>
          <a:p>
            <a:pPr>
              <a:spcAft>
                <a:spcPts val="0"/>
              </a:spcAft>
            </a:pPr>
            <a:r>
              <a:rPr sz="1050" b="0">
                <a:solidFill>
                  <a:srgbClr val="667085"/>
                </a:solidFill>
                <a:latin typeface="Arial"/>
              </a:rPr>
              <a:t>enter when NL cash flow / new capital covers the wait; IVDR done; Poland stays parked (€115 price ≈ COGS+ margin too thin)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703320"/>
            <a:ext cx="11155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 b="1">
                <a:solidFill>
                  <a:srgbClr val="1D2939"/>
                </a:solidFill>
                <a:latin typeface="Arial"/>
              </a:rPr>
              <a:t>Decision triggers, agreed with the board today: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Accelerate</a:t>
            </a:r>
            <a:r>
              <a:rPr sz="1250">
                <a:solidFill>
                  <a:srgbClr val="667085"/>
                </a:solidFill>
                <a:latin typeface="Arial"/>
              </a:rPr>
              <a:t> NL reimbursed-year-1 penetration ≥7% of addressable and price ≥€200 → pull Portugal forward; raise growth capital against proven uptake.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Delay</a:t>
            </a:r>
            <a:r>
              <a:rPr sz="1250">
                <a:solidFill>
                  <a:srgbClr val="667085"/>
                </a:solidFill>
                <a:latin typeface="Arial"/>
              </a:rPr>
              <a:t> reimbursement slips past month 15 or ramp &lt;half of plan → freeze Portugal, cut NL in-market cost, extend runway before the trough.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Abandon / pivot</a:t>
            </a:r>
            <a:r>
              <a:rPr sz="1250">
                <a:solidFill>
                  <a:srgbClr val="667085"/>
                </a:solidFill>
                <a:latin typeface="Arial"/>
              </a:rPr>
              <a:t> no reimbursement by month 18 with pipeline dry → stop-loss NL commercial build; the Germany filing and the Portuguese R&amp;D base (HealthTech Growth Call: €500k, 60% co-financing of Portugal-based R&amp;D — not usable for any launch) keep two doors open.</a:t>
            </a:r>
          </a:p>
          <a:p>
            <a:pPr>
              <a:spcAft>
                <a:spcPts val="800"/>
              </a:spcAft>
            </a:pPr>
            <a:r>
              <a:rPr sz="1250">
                <a:solidFill>
                  <a:srgbClr val="FF4200"/>
                </a:solidFill>
                <a:latin typeface="Arial"/>
              </a:rPr>
              <a:t>▪ </a:t>
            </a:r>
            <a:r>
              <a:rPr b="1" sz="1250">
                <a:solidFill>
                  <a:srgbClr val="1D2939"/>
                </a:solidFill>
                <a:latin typeface="Arial"/>
              </a:rPr>
              <a:t>What we refuse to do</a:t>
            </a:r>
            <a:r>
              <a:rPr sz="1250">
                <a:solidFill>
                  <a:srgbClr val="667085"/>
                </a:solidFill>
                <a:latin typeface="Arial"/>
              </a:rPr>
              <a:t> chase Germany's headline volume with a 24-month unfunded gap, or book the funding call as launch money — it is R&amp;D co-financing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73952"/>
            <a:ext cx="1118585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sz="950" b="0">
                <a:solidFill>
                  <a:srgbClr val="667085"/>
                </a:solidFill>
                <a:latin typeface="Arial"/>
              </a:rPr>
              <a:t>Pipeline run: 74 values extracted deterministically, 0 AI calls, eval 28/28, 0.9s end-to-end — the same assessment re-runs on markets 5–14 by adding a config entry.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